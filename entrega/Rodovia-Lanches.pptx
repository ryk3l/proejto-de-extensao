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Consolas" panose="020B0609020204030204" pitchFamily="49" charset="0"/>
      <p:regular r:id="rId11"/>
      <p:bold r:id="rId12"/>
      <p:italic r:id="rId13"/>
      <p:boldItalic r:id="rId14"/>
    </p:embeddedFont>
    <p:embeddedFont>
      <p:font typeface="JetBrains Mono" panose="020B0604020202020204" charset="0"/>
      <p:regular r:id="rId15"/>
    </p:embeddedFont>
    <p:embeddedFont>
      <p:font typeface="JetBrains Mono Bold" panose="020B0604020202020204" charset="0"/>
      <p:regular r:id="rId16"/>
    </p:embeddedFont>
    <p:embeddedFont>
      <p:font typeface="JetBrains Mono Medium" panose="020B0604020202020204" charset="0"/>
      <p:regular r:id="rId17"/>
    </p:embeddedFont>
    <p:embeddedFont>
      <p:font typeface="JetBrains Mono Semi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7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6T16:36:44.0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724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não é falta de gente. É falta de informação circulando na hora certa.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um quadro de pedidos na parede, só que digital e atualizado sozinho.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lanchonete não precisa de equipe de TI: precisa de um PC ligado e do Wi-Fi funcionando.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ganho não é só velocidade: é confiança no 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2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999357"/>
            <a:ext cx="6095848" cy="157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6200" b="1" kern="100" spc="-155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0"/>
              </a:rPr>
              <a:t>RODOVIA</a:t>
            </a:r>
            <a:endParaRPr lang="en-US" sz="62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6200" b="1" kern="100" spc="-155" dirty="0">
                <a:solidFill>
                  <a:srgbClr val="F2F0E8"/>
                </a:solidFill>
                <a:latin typeface="JetBrains Mono Bold" pitchFamily="34" charset="0"/>
                <a:ea typeface="JetBrains Mono Bold" pitchFamily="34" charset="-122"/>
                <a:cs typeface="JetBrains Mono Bold" pitchFamily="34" charset="0"/>
              </a:rPr>
              <a:t>LANCHES</a:t>
            </a:r>
            <a:endParaRPr lang="en-US" sz="6200" dirty="0"/>
          </a:p>
        </p:txBody>
      </p:sp>
      <p:sp>
        <p:nvSpPr>
          <p:cNvPr id="3" name="Shape 1"/>
          <p:cNvSpPr/>
          <p:nvPr/>
        </p:nvSpPr>
        <p:spPr>
          <a:xfrm>
            <a:off x="609585" y="3720207"/>
            <a:ext cx="2011610" cy="31651"/>
          </a:xfrm>
          <a:prstGeom prst="roundRect">
            <a:avLst>
              <a:gd name="adj" fmla="val 49998"/>
            </a:avLst>
          </a:prstGeom>
          <a:solidFill>
            <a:srgbClr val="5AD4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09585" y="4118987"/>
            <a:ext cx="609584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O pedido nasce no salão, aparece na cozinha e chega ao caixa.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4839990"/>
            <a:ext cx="6705432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Sem grito, sem papel e sem estoque furado.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1EC1DD33-27AD-9C92-AC82-3CF4FE56B796}"/>
                  </a:ext>
                </a:extLst>
              </p14:cNvPr>
              <p14:cNvContentPartPr/>
              <p14:nvPr/>
            </p14:nvContentPartPr>
            <p14:xfrm>
              <a:off x="2015935" y="509751"/>
              <a:ext cx="360" cy="36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1EC1DD33-27AD-9C92-AC82-3CF4FE56B79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09815" y="503631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Imagem 9">
            <a:extLst>
              <a:ext uri="{FF2B5EF4-FFF2-40B4-BE49-F238E27FC236}">
                <a16:creationId xmlns:a16="http://schemas.microsoft.com/office/drawing/2014/main" id="{700C79EB-2B63-DAFA-6FC4-25E11C7A83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6939" y="6312798"/>
            <a:ext cx="1224756" cy="4751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6389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483" y="649288"/>
            <a:ext cx="6908627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0"/>
              </a:rPr>
              <a:t>O GARGALO NÃO É A COZINHA, É O FLUXO DA INFORMAÇÃO.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673483" y="2124750"/>
            <a:ext cx="3276518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F5C9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Pedido em papel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673483" y="2532658"/>
            <a:ext cx="327651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Erro de leitura, perda e retrabalho.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305592" y="2122567"/>
            <a:ext cx="3276518" cy="561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F5C9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Salão e cozinha desencontrados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305592" y="2811066"/>
            <a:ext cx="3276518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Espera e pedido errado.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673483" y="4674275"/>
            <a:ext cx="3276518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F5C9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Estoque “no olho”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673483" y="5082183"/>
            <a:ext cx="327651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Vende o que não tem ou compra demais.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305592" y="4674275"/>
            <a:ext cx="3276518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F5C9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Gerente sem visão do dia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305592" y="5082183"/>
            <a:ext cx="327651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Decide por impressão, não por dado.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121447" y="1504950"/>
            <a:ext cx="12700" cy="2371725"/>
          </a:xfrm>
          <a:prstGeom prst="rect">
            <a:avLst/>
          </a:prstGeom>
          <a:solidFill>
            <a:srgbClr val="4A515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4673483" y="3870325"/>
            <a:ext cx="3454314" cy="12700"/>
          </a:xfrm>
          <a:prstGeom prst="rect">
            <a:avLst/>
          </a:prstGeom>
          <a:solidFill>
            <a:srgbClr val="4A515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8121447" y="3876675"/>
            <a:ext cx="12700" cy="2371725"/>
          </a:xfrm>
          <a:prstGeom prst="rect">
            <a:avLst/>
          </a:prstGeom>
          <a:solidFill>
            <a:srgbClr val="4A515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8127797" y="3870325"/>
            <a:ext cx="3454314" cy="12700"/>
          </a:xfrm>
          <a:prstGeom prst="rect">
            <a:avLst/>
          </a:prstGeom>
          <a:solidFill>
            <a:srgbClr val="4A515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11408680" y="6494661"/>
            <a:ext cx="78301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52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02</a:t>
            </a:r>
            <a:endParaRPr lang="en-US" sz="105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B5559B33-21D2-2399-08E0-741B0E26E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6939" y="6312798"/>
            <a:ext cx="1224756" cy="4751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9288"/>
            <a:ext cx="6908627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0"/>
              </a:rPr>
              <a:t>UM ÚNICO SISTEMA, TODOS VENDO A MESMA COISA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841103"/>
            <a:ext cx="690862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Pedido digital para mesa </a:t>
            </a:r>
            <a:r>
              <a:rPr lang="en-US" sz="1500" dirty="0">
                <a:solidFill>
                  <a:srgbClr val="5AD4E6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(1 a 8)</a:t>
            </a: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 ou delivery.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585" y="2789734"/>
            <a:ext cx="690862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Cozinha e salão sincronizados em tempo real.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585" y="3738463"/>
            <a:ext cx="690862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Estoque por ingrediente; baixa automática na venda.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4687193"/>
            <a:ext cx="690862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Gerente vê pedidos, cardápio, equipe e custos.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585" y="5635923"/>
            <a:ext cx="6908627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Login com menu diferente para cada função.</a:t>
            </a:r>
            <a:endParaRPr lang="en-US" sz="15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9585" y="2447230"/>
            <a:ext cx="6908627" cy="12700"/>
          </a:xfrm>
          <a:prstGeom prst="rect">
            <a:avLst/>
          </a:prstGeom>
          <a:solidFill>
            <a:srgbClr val="4A515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609585" y="3395861"/>
            <a:ext cx="6908627" cy="12700"/>
          </a:xfrm>
          <a:prstGeom prst="rect">
            <a:avLst/>
          </a:prstGeom>
          <a:solidFill>
            <a:srgbClr val="4A515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609585" y="4344591"/>
            <a:ext cx="6908627" cy="12700"/>
          </a:xfrm>
          <a:prstGeom prst="rect">
            <a:avLst/>
          </a:prstGeom>
          <a:solidFill>
            <a:srgbClr val="4A515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609585" y="5293320"/>
            <a:ext cx="6908627" cy="12700"/>
          </a:xfrm>
          <a:prstGeom prst="rect">
            <a:avLst/>
          </a:prstGeom>
          <a:solidFill>
            <a:srgbClr val="4A515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09585" y="6494661"/>
            <a:ext cx="78301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52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03</a:t>
            </a:r>
            <a:endParaRPr lang="en-US" sz="105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9ED4EA01-5438-1830-F398-73E6B21F0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6939" y="6312798"/>
            <a:ext cx="1224756" cy="4751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9288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0"/>
              </a:rPr>
              <a:t>O CAMINHO DE UM PEDIDO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585" y="1149350"/>
            <a:ext cx="10972526" cy="6350"/>
          </a:xfrm>
          <a:prstGeom prst="rect">
            <a:avLst/>
          </a:prstGeom>
          <a:solidFill>
            <a:srgbClr val="4A515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09585" y="5648325"/>
            <a:ext cx="10972526" cy="6350"/>
          </a:xfrm>
          <a:prstGeom prst="rect">
            <a:avLst/>
          </a:prstGeom>
          <a:solidFill>
            <a:srgbClr val="4A515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09585" y="1308100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0"/>
              </a:rPr>
              <a:t>01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585" y="1574800"/>
            <a:ext cx="1950592" cy="19050"/>
          </a:xfrm>
          <a:prstGeom prst="rect">
            <a:avLst/>
          </a:prstGeom>
          <a:solidFill>
            <a:srgbClr val="B6E3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09585" y="1714182"/>
            <a:ext cx="195069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Garçom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9585" y="2122091"/>
            <a:ext cx="1950691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Escolhe mesa ou delivery, cliente e itens. Envia.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64969" y="1308100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0"/>
              </a:rPr>
              <a:t>02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864969" y="1574800"/>
            <a:ext cx="1950592" cy="19050"/>
          </a:xfrm>
          <a:prstGeom prst="rect">
            <a:avLst/>
          </a:prstGeom>
          <a:solidFill>
            <a:srgbClr val="B6E3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864969" y="1714182"/>
            <a:ext cx="195069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Sistema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64969" y="2122091"/>
            <a:ext cx="1950691" cy="148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Confere e baixa o estoque.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F5C93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Se faltar, bloqueia e explica.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20353" y="1308100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0"/>
              </a:rPr>
              <a:t>03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120353" y="1574800"/>
            <a:ext cx="1950889" cy="19050"/>
          </a:xfrm>
          <a:prstGeom prst="rect">
            <a:avLst/>
          </a:prstGeom>
          <a:solidFill>
            <a:srgbClr val="B6E3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120353" y="1714182"/>
            <a:ext cx="1950889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Cozinha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120353" y="2122091"/>
            <a:ext cx="1950889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Vê a fila e marca “pronto”.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75936" y="1308100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0"/>
              </a:rPr>
              <a:t>04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75936" y="1574800"/>
            <a:ext cx="1950592" cy="19050"/>
          </a:xfrm>
          <a:prstGeom prst="rect">
            <a:avLst/>
          </a:prstGeom>
          <a:solidFill>
            <a:srgbClr val="B6E3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7375936" y="1714182"/>
            <a:ext cx="1950691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Garçom / Balcão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75936" y="2122091"/>
            <a:ext cx="1950691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Garçom é avisado para entregar. Balcão vê o total e marca “pago”.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31320" y="1308100"/>
            <a:ext cx="83817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0"/>
              </a:rPr>
              <a:t>05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631320" y="1574800"/>
            <a:ext cx="1950691" cy="19050"/>
          </a:xfrm>
          <a:prstGeom prst="rect">
            <a:avLst/>
          </a:prstGeom>
          <a:solidFill>
            <a:srgbClr val="B6E3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9631320" y="1714182"/>
            <a:ext cx="1950790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Gerente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631320" y="2122091"/>
            <a:ext cx="195079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Acompanha por status e data; estoque já atualizado.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585" y="5819775"/>
            <a:ext cx="10972526" cy="428625"/>
          </a:xfrm>
          <a:prstGeom prst="rect">
            <a:avLst/>
          </a:prstGeom>
          <a:noFill/>
          <a:ln/>
        </p:spPr>
        <p:txBody>
          <a:bodyPr wrap="square" lIns="0" tIns="126997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B6E35A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Telas atualizadas a cada 3 segundos.</a:t>
            </a: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 Delivery segue o mesmo fluxo, sem mesa.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08680" y="6494661"/>
            <a:ext cx="78301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52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04</a:t>
            </a:r>
            <a:endParaRPr lang="en-US" sz="1050" dirty="0"/>
          </a:p>
        </p:txBody>
      </p:sp>
      <p:pic>
        <p:nvPicPr>
          <p:cNvPr id="28" name="Imagem 27">
            <a:extLst>
              <a:ext uri="{FF2B5EF4-FFF2-40B4-BE49-F238E27FC236}">
                <a16:creationId xmlns:a16="http://schemas.microsoft.com/office/drawing/2014/main" id="{2F774C77-EB77-B9BD-A67E-6784F5F7B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6939" y="6312798"/>
            <a:ext cx="1224756" cy="47515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9288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0"/>
              </a:rPr>
              <a:t>INSTALAÇÃO SIMPLES, SEM DEPENDER DE INTERNET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585" y="1149350"/>
            <a:ext cx="10972526" cy="6350"/>
          </a:xfrm>
          <a:prstGeom prst="rect">
            <a:avLst/>
          </a:prstGeom>
          <a:solidFill>
            <a:srgbClr val="4A515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609585" y="5513090"/>
            <a:ext cx="10972526" cy="6350"/>
          </a:xfrm>
          <a:prstGeom prst="rect">
            <a:avLst/>
          </a:prstGeom>
          <a:solidFill>
            <a:srgbClr val="4A515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09585" y="2664043"/>
            <a:ext cx="3454314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APARELHOS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585" y="2919452"/>
            <a:ext cx="3454314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Celular, tablet e outros computadores.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09585" y="3732808"/>
            <a:ext cx="3454314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Apenas o navegador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68691" y="3174444"/>
            <a:ext cx="3454314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5AD4E6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→ Wi-Fi local →</a:t>
            </a:r>
            <a:endParaRPr lang="en-US" sz="2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1308100"/>
            <a:ext cx="2935016" cy="165090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127797" y="3137436"/>
            <a:ext cx="3454314" cy="693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Computador serve de servidor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8127797" y="3950791"/>
            <a:ext cx="3454314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Sistema + banco de dados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(jar + PostgreSQL)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09585" y="5688826"/>
            <a:ext cx="548626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INSTALAÇÃO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09585" y="5965825"/>
            <a:ext cx="548626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Java 17 + PostgreSQL + duplo clique no atalho.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643" y="5688826"/>
            <a:ext cx="5308467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BACKUP DO HISTÓRICO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273643" y="5965825"/>
            <a:ext cx="5308467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Um comando: </a:t>
            </a:r>
            <a:r>
              <a:rPr lang="en-US" sz="1500" dirty="0">
                <a:solidFill>
                  <a:srgbClr val="F2F0E8"/>
                </a:solidFill>
                <a:highlight>
                  <a:srgbClr val="1C1F22"/>
                </a:highlight>
                <a:latin typeface="Consolas" pitchFamily="34" charset="0"/>
                <a:ea typeface="Consolas" pitchFamily="34" charset="-122"/>
                <a:cs typeface="Consolas" pitchFamily="34" charset="0"/>
              </a:rPr>
              <a:t>pg_dump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089498" y="5684540"/>
            <a:ext cx="12700" cy="563860"/>
          </a:xfrm>
          <a:prstGeom prst="rect">
            <a:avLst/>
          </a:prstGeom>
          <a:solidFill>
            <a:srgbClr val="4A515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11408680" y="6494661"/>
            <a:ext cx="78301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52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05</a:t>
            </a:r>
            <a:endParaRPr lang="en-US" sz="1050" dirty="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C56F128F-63FD-9B9A-7FF9-3D0E5A12C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6939" y="6312798"/>
            <a:ext cx="1224756" cy="4751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9288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0"/>
              </a:rPr>
              <a:t>CADA FUNÇÃO ENTRA PELA SUA PORTA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149350"/>
          <a:ext cx="10972525" cy="3466615"/>
        </p:xfrm>
        <a:graphic>
          <a:graphicData uri="http://schemas.openxmlformats.org/drawingml/2006/table">
            <a:tbl>
              <a:tblPr/>
              <a:tblGrid>
                <a:gridCol w="21944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33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5AD4E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Garçom</a:t>
                      </a:r>
                      <a:endParaRPr lang="en-US" sz="17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203195" marB="203195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Mesas, delivery, produtos e clientes; monta e envia o pedido.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203195" marB="203195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3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5AD4E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Cozinha</a:t>
                      </a:r>
                      <a:endParaRPr lang="en-US" sz="17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203195" marB="203195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Fila de pedidos; marca como pronto.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203195" marB="203195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3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5AD4E6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Balcão</a:t>
                      </a:r>
                      <a:endParaRPr lang="en-US" sz="17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203195" marB="203195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Pedidos prontos com o total; recebe e marca como pago.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203195" marB="203195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3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B6E35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Gerente</a:t>
                      </a:r>
                      <a:endParaRPr lang="en-US" sz="17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203195" marB="203195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Vê tudo: filtros por data, cardápio, estoque e equipe; cria os acessos.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203195" marB="203195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3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Cliente</a:t>
                      </a:r>
                      <a:endParaRPr lang="en-US" sz="17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203195" marB="203195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Não acessa diretamente sistema; é vinculado ao pedido.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203195" marB="203195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408680" y="6494661"/>
            <a:ext cx="78301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52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06</a:t>
            </a:r>
            <a:endParaRPr lang="en-US" sz="105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2896E81-B788-B36D-EB81-984033202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6939" y="6312798"/>
            <a:ext cx="1224756" cy="47515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509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67093" y="649288"/>
            <a:ext cx="7315017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0"/>
              </a:rPr>
              <a:t>O QUE MUDA NO DIA A DIA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67093" y="1149350"/>
          <a:ext cx="7315017" cy="4228996"/>
        </p:xfrm>
        <a:graphic>
          <a:graphicData uri="http://schemas.openxmlformats.org/drawingml/2006/table">
            <a:tbl>
              <a:tblPr/>
              <a:tblGrid>
                <a:gridCol w="3291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ANTES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65096" marB="16509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kern="100" spc="9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DEPOIS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65096" marB="16509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Comanda de papel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65096" marB="16509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Pedido digital no celular/tablet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65096" marB="16509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89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Grito ou corrida até a cozinha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65096" marB="16509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Pedido aparece sozinho na tela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65096" marB="16509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89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Estoque no olho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65096" marB="16509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Baixa automática pelos ingredientes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65096" marB="16509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“Acho que vendemos bem”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65096" marB="16509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Pedidos por status e por período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65096" marB="16509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Cada um com sua anotação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65096" marB="16509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F2F0E8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0"/>
                        </a:rPr>
                        <a:t>Todos com a mesma informação</a:t>
                      </a:r>
                      <a:endParaRPr lang="en-US" sz="150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26997" marR="126997" marT="165096" marB="165096" anchor="ctr">
                    <a:lnL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51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14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1408680" y="6494661"/>
            <a:ext cx="78301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52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07</a:t>
            </a:r>
            <a:endParaRPr lang="en-US" sz="105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2665E23-8476-E7FF-0D65-615116C61D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6939" y="6312798"/>
            <a:ext cx="1224756" cy="4751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9288"/>
            <a:ext cx="10972526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kern="100" spc="168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0"/>
              </a:rPr>
              <a:t>TECNOLOGIAS ESCOLHIDAS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09585" y="1153636"/>
            <a:ext cx="3657509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INTERFACE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585" y="1409045"/>
            <a:ext cx="3479713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React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09585" y="1875730"/>
            <a:ext cx="347971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No navegador, em qualquer aparelho.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444889" y="1153636"/>
            <a:ext cx="347971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SERVIDOR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444889" y="1409045"/>
            <a:ext cx="3301917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Spring Boot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444889" y="1875730"/>
            <a:ext cx="347971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Regras de negócio e API.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02397" y="1153636"/>
            <a:ext cx="347971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79" dirty="0">
                <a:solidFill>
                  <a:srgbClr val="B6E35A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BANCO DE DADOS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102397" y="1409045"/>
            <a:ext cx="3479713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dirty="0">
                <a:solidFill>
                  <a:srgbClr val="F2F0E8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0"/>
              </a:rPr>
              <a:t>PostgreSQL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102397" y="1875730"/>
            <a:ext cx="347971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Banco de dados confiável.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585" y="5230812"/>
            <a:ext cx="10972526" cy="609600"/>
          </a:xfrm>
          <a:prstGeom prst="rect">
            <a:avLst/>
          </a:prstGeom>
          <a:noFill/>
          <a:ln/>
        </p:spPr>
        <p:txBody>
          <a:bodyPr wrap="none" lIns="0" tIns="126997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600" kern="100" spc="216" dirty="0">
                <a:solidFill>
                  <a:srgbClr val="F2F0E8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0"/>
              </a:rPr>
              <a:t>TUDO EMBUTIDO EM UM ÚNICO </a:t>
            </a:r>
            <a:r>
              <a:rPr lang="en-US" sz="3600" kern="100" spc="216" dirty="0">
                <a:solidFill>
                  <a:srgbClr val="B6E35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0"/>
              </a:rPr>
              <a:t>.JAR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09585" y="5972175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2F0E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Menos peças para instalar, menos chance de erro na máquina do cliente.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260743" y="1149350"/>
            <a:ext cx="12700" cy="3714750"/>
          </a:xfrm>
          <a:prstGeom prst="rect">
            <a:avLst/>
          </a:prstGeom>
          <a:solidFill>
            <a:srgbClr val="4A515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918252" y="1149350"/>
            <a:ext cx="12700" cy="3714750"/>
          </a:xfrm>
          <a:prstGeom prst="rect">
            <a:avLst/>
          </a:prstGeom>
          <a:solidFill>
            <a:srgbClr val="4A515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1408680" y="6494661"/>
            <a:ext cx="783015" cy="1932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050" kern="100" spc="52" dirty="0">
                <a:solidFill>
                  <a:srgbClr val="899198"/>
                </a:solidFill>
                <a:latin typeface="JetBrains Mono" pitchFamily="34" charset="0"/>
                <a:ea typeface="JetBrains Mono" pitchFamily="34" charset="-122"/>
                <a:cs typeface="JetBrains Mono" pitchFamily="34" charset="0"/>
              </a:rPr>
              <a:t>08</a:t>
            </a:r>
            <a:endParaRPr lang="en-US" sz="105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EA5BDF73-6265-DEBA-0E98-F169660E8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6939" y="6312798"/>
            <a:ext cx="1224756" cy="47515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546</Words>
  <Application>Microsoft Office PowerPoint</Application>
  <PresentationFormat>Widescreen</PresentationFormat>
  <Paragraphs>104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5" baseType="lpstr">
      <vt:lpstr>Arial</vt:lpstr>
      <vt:lpstr>JetBrains Mono Bold</vt:lpstr>
      <vt:lpstr>JetBrains Mono Medium</vt:lpstr>
      <vt:lpstr>JetBrains Mono SemiBold</vt:lpstr>
      <vt:lpstr>JetBrains Mono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Gabriel Ryquelme</cp:lastModifiedBy>
  <cp:revision>2</cp:revision>
  <dcterms:created xsi:type="dcterms:W3CDTF">2026-10-26T16:36:10Z</dcterms:created>
  <dcterms:modified xsi:type="dcterms:W3CDTF">2026-10-26T16:37:39Z</dcterms:modified>
</cp:coreProperties>
</file>